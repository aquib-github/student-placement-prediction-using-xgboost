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72" r:id="rId5"/>
    <p:sldId id="2683" r:id="rId6"/>
    <p:sldId id="73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107" d="100"/>
          <a:sy n="107" d="100"/>
        </p:scale>
        <p:origin x="5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</a:t>
          </a:r>
          <a:r>
            <a:rPr lang="en-IN" sz="2400" dirty="0"/>
            <a:t>ML PREDICTION SYSTEM</a:t>
          </a:r>
          <a:r>
            <a:rPr lang="en-GB" sz="2400" b="1" dirty="0"/>
            <a:t>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1200"/>
            <a:t>Test Report</a:t>
          </a:r>
          <a:endParaRPr lang="en-GB" sz="1200" dirty="0"/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000" dirty="0"/>
            <a:t>Data Preprocessing + Cleaning</a:t>
          </a:r>
          <a:endParaRPr lang="en-GB" sz="1000" dirty="0"/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000" dirty="0"/>
            <a:t>Missing Label Handling</a:t>
          </a:r>
          <a:endParaRPr lang="en-GB" sz="1000" dirty="0"/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900" dirty="0"/>
            <a:t>SMOTE + Final </a:t>
          </a:r>
          <a:r>
            <a:rPr lang="en-IN" sz="900" dirty="0" err="1"/>
            <a:t>XGBoost</a:t>
          </a:r>
          <a:r>
            <a:rPr lang="en-IN" sz="900" dirty="0"/>
            <a:t> Training</a:t>
          </a:r>
          <a:endParaRPr lang="en-GB" sz="900" dirty="0"/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US" sz="900" dirty="0"/>
            <a:t>Accuracy, Precision, Recall, F1 Evaluation</a:t>
          </a:r>
          <a:endParaRPr lang="en-GB" sz="900" dirty="0"/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dirty="0"/>
            <a:t>Dataset Study</a:t>
          </a:r>
          <a:endParaRPr lang="en-GB" sz="1200" dirty="0"/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050" dirty="0"/>
            <a:t>EDA + Feature Selection</a:t>
          </a:r>
          <a:endParaRPr lang="en-GB" sz="1050" dirty="0"/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900" dirty="0"/>
            <a:t>Model Design (</a:t>
          </a:r>
          <a:r>
            <a:rPr lang="en-IN" sz="800" dirty="0" err="1"/>
            <a:t>XGBoost</a:t>
          </a:r>
          <a:r>
            <a:rPr lang="en-IN" sz="900" dirty="0"/>
            <a:t> pipeline)</a:t>
          </a:r>
          <a:endParaRPr lang="en-GB" sz="900" dirty="0"/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</a:t>
          </a:r>
          <a:r>
            <a:rPr lang="en-IN" sz="2400" kern="1200" dirty="0"/>
            <a:t>ML PREDICTION SYSTEM</a:t>
          </a:r>
          <a:r>
            <a:rPr lang="en-GB" sz="2400" b="1" kern="1200" dirty="0"/>
            <a:t>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Dataset Study</a:t>
          </a:r>
          <a:endParaRPr lang="en-GB" sz="1200" kern="1200" dirty="0"/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EDA + Feature Selection</a:t>
          </a:r>
          <a:endParaRPr lang="en-GB" sz="1050" kern="1200" dirty="0"/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Model Design (</a:t>
          </a:r>
          <a:r>
            <a:rPr lang="en-IN" sz="800" kern="1200" dirty="0" err="1"/>
            <a:t>XGBoost</a:t>
          </a:r>
          <a:r>
            <a:rPr lang="en-IN" sz="900" kern="1200" dirty="0"/>
            <a:t> pipeline)</a:t>
          </a:r>
          <a:endParaRPr lang="en-GB" sz="900" kern="1200" dirty="0"/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Test Report</a:t>
          </a:r>
          <a:endParaRPr lang="en-GB" sz="1200" kern="1200" dirty="0"/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Data Preprocessing + Cleaning</a:t>
          </a:r>
          <a:endParaRPr lang="en-GB" sz="1000" kern="1200" dirty="0"/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Missing Label Handling</a:t>
          </a:r>
          <a:endParaRPr lang="en-GB" sz="1000" kern="1200" dirty="0"/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SMOTE + Final </a:t>
          </a:r>
          <a:r>
            <a:rPr lang="en-IN" sz="900" kern="1200" dirty="0" err="1"/>
            <a:t>XGBoost</a:t>
          </a:r>
          <a:r>
            <a:rPr lang="en-IN" sz="900" kern="1200" dirty="0"/>
            <a:t> Training</a:t>
          </a:r>
          <a:endParaRPr lang="en-GB" sz="900" kern="1200" dirty="0"/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Accuracy, Precision, Recall, F1 Evaluation</a:t>
          </a:r>
          <a:endParaRPr lang="en-GB" sz="900" kern="1200" dirty="0"/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19-Feb-26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ndustryacademiacommun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C906E4-D58B-47CC-8283-E362D3DD4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8" r="4442" b="243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C517-4226-E44A-95EC-DCC249E5B48F}"/>
              </a:ext>
            </a:extLst>
          </p:cNvPr>
          <p:cNvSpPr txBox="1">
            <a:spLocks/>
          </p:cNvSpPr>
          <p:nvPr/>
        </p:nvSpPr>
        <p:spPr>
          <a:xfrm>
            <a:off x="9099036" y="5420874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this sheet 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161621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3">
        <p159:morph option="byObject"/>
      </p:transition>
    </mc:Choice>
    <mc:Fallback xmlns="">
      <p:transition spd="slow" advTm="6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IP25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494220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700000">
            <a:off x="-412239" y="-1971101"/>
            <a:ext cx="1781737" cy="4842197"/>
            <a:chOff x="0" y="0"/>
            <a:chExt cx="703896" cy="1912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1783646">
            <a:off x="-1006336" y="-743958"/>
            <a:ext cx="1727896" cy="3333140"/>
            <a:chOff x="0" y="0"/>
            <a:chExt cx="682626" cy="1316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2700000">
            <a:off x="10825160" y="-1966213"/>
            <a:ext cx="1781737" cy="4842197"/>
            <a:chOff x="0" y="0"/>
            <a:chExt cx="703896" cy="19129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3896" cy="1912967"/>
            </a:xfrm>
            <a:custGeom>
              <a:avLst/>
              <a:gdLst/>
              <a:ahLst/>
              <a:cxnLst/>
              <a:rect l="l" t="t" r="r" b="b"/>
              <a:pathLst>
                <a:path w="703896" h="1912967">
                  <a:moveTo>
                    <a:pt x="0" y="0"/>
                  </a:moveTo>
                  <a:lnTo>
                    <a:pt x="703896" y="0"/>
                  </a:lnTo>
                  <a:lnTo>
                    <a:pt x="703896" y="1912967"/>
                  </a:lnTo>
                  <a:lnTo>
                    <a:pt x="0" y="191296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6684">
            <a:off x="11470041" y="-743958"/>
            <a:ext cx="1727896" cy="3333140"/>
            <a:chOff x="0" y="0"/>
            <a:chExt cx="682626" cy="13167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-1804907">
            <a:off x="-1245617" y="4508896"/>
            <a:ext cx="1768489" cy="3411446"/>
            <a:chOff x="0" y="0"/>
            <a:chExt cx="682626" cy="13167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1820204">
            <a:off x="11664548" y="4508477"/>
            <a:ext cx="1768489" cy="3411446"/>
            <a:chOff x="0" y="0"/>
            <a:chExt cx="682626" cy="13167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2850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4662" tIns="34662" rIns="34662" bIns="34662" rtlCol="0" anchor="ctr"/>
            <a:lstStyle/>
            <a:p>
              <a:pPr algn="ctr" defTabSz="609630">
                <a:lnSpc>
                  <a:spcPts val="1815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-3580575">
            <a:off x="10483865" y="-1775583"/>
            <a:ext cx="1727896" cy="3333140"/>
            <a:chOff x="0" y="0"/>
            <a:chExt cx="682626" cy="13167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3600487">
            <a:off x="-20265" y="-1787765"/>
            <a:ext cx="1727896" cy="3333140"/>
            <a:chOff x="0" y="0"/>
            <a:chExt cx="682626" cy="13167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626" cy="1316796"/>
            </a:xfrm>
            <a:custGeom>
              <a:avLst/>
              <a:gdLst/>
              <a:ahLst/>
              <a:cxnLst/>
              <a:rect l="l" t="t" r="r" b="b"/>
              <a:pathLst>
                <a:path w="682626" h="1316796">
                  <a:moveTo>
                    <a:pt x="0" y="0"/>
                  </a:moveTo>
                  <a:lnTo>
                    <a:pt x="682626" y="0"/>
                  </a:lnTo>
                  <a:lnTo>
                    <a:pt x="682626" y="1316796"/>
                  </a:lnTo>
                  <a:lnTo>
                    <a:pt x="0" y="1316796"/>
                  </a:lnTo>
                  <a:close/>
                </a:path>
              </a:pathLst>
            </a:custGeom>
            <a:solidFill>
              <a:srgbClr val="F59E0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2700000">
            <a:off x="11560080" y="246335"/>
            <a:ext cx="1243416" cy="12434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-2700000">
            <a:off x="10453175" y="6354299"/>
            <a:ext cx="1243416" cy="124341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495409" y="6354299"/>
            <a:ext cx="1243416" cy="124341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-610793" y="246335"/>
            <a:ext cx="1243416" cy="124341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B50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38" name="AutoShape 38"/>
          <p:cNvSpPr/>
          <p:nvPr/>
        </p:nvSpPr>
        <p:spPr>
          <a:xfrm>
            <a:off x="5691076" y="5867400"/>
            <a:ext cx="708343" cy="0"/>
          </a:xfrm>
          <a:prstGeom prst="line">
            <a:avLst/>
          </a:prstGeom>
          <a:ln w="85725" cap="rnd">
            <a:solidFill>
              <a:srgbClr val="F59E0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25425" y="234483"/>
            <a:ext cx="2189224" cy="1400369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2935193" y="1856438"/>
            <a:ext cx="6171995" cy="782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524"/>
              </a:lnSpc>
              <a:spcBef>
                <a:spcPct val="0"/>
              </a:spcBef>
            </a:pPr>
            <a:r>
              <a:rPr lang="en-US" sz="4660" b="1" dirty="0">
                <a:solidFill>
                  <a:srgbClr val="EA7317"/>
                </a:solidFill>
                <a:latin typeface="Calibri"/>
              </a:rPr>
              <a:t>Our Contact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49820" y="5294157"/>
            <a:ext cx="528320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499"/>
              </a:lnSpc>
            </a:pP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Member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@</a:t>
            </a:r>
            <a:r>
              <a:rPr lang="en-US" sz="2000" u="sng" dirty="0" err="1">
                <a:solidFill>
                  <a:srgbClr val="000000"/>
                </a:solidFill>
                <a:latin typeface="Calibri"/>
              </a:rPr>
              <a:t>IndustryAcademiaCommunity</a:t>
            </a:r>
            <a:r>
              <a:rPr lang="en-US" sz="1600" u="sng" dirty="0" err="1">
                <a:solidFill>
                  <a:srgbClr val="000000"/>
                </a:solidFill>
                <a:latin typeface="Calibri"/>
              </a:rPr>
              <a:t>.com</a:t>
            </a:r>
            <a:endParaRPr lang="en-US" sz="1600" u="sng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0" name="Picture 49" descr="Qr code&#10;&#10;Description automatically generated">
            <a:extLst>
              <a:ext uri="{FF2B5EF4-FFF2-40B4-BE49-F238E27FC236}">
                <a16:creationId xmlns:a16="http://schemas.microsoft.com/office/drawing/2014/main" id="{5E4401F0-B2EE-F448-846C-6D2D491EB6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8000" r="9895" b="8000"/>
          <a:stretch/>
        </p:blipFill>
        <p:spPr>
          <a:xfrm>
            <a:off x="5080008" y="3019396"/>
            <a:ext cx="2034641" cy="2133600"/>
          </a:xfrm>
          <a:prstGeom prst="rect">
            <a:avLst/>
          </a:prstGeom>
        </p:spPr>
      </p:pic>
      <p:sp>
        <p:nvSpPr>
          <p:cNvPr id="55" name="TextBox 15">
            <a:extLst>
              <a:ext uri="{FF2B5EF4-FFF2-40B4-BE49-F238E27FC236}">
                <a16:creationId xmlns:a16="http://schemas.microsoft.com/office/drawing/2014/main" id="{B397D929-74BF-9A4D-B263-A172572E5C90}"/>
              </a:ext>
            </a:extLst>
          </p:cNvPr>
          <p:cNvSpPr txBox="1"/>
          <p:nvPr/>
        </p:nvSpPr>
        <p:spPr>
          <a:xfrm>
            <a:off x="2724787" y="6051642"/>
            <a:ext cx="6657733" cy="50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000"/>
              </a:lnSpc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You may even raise queries in the Q&amp;A section of your respective domain community on the IAC platform</a:t>
            </a:r>
            <a:endParaRPr lang="en-US" sz="1600" dirty="0">
              <a:solidFill>
                <a:srgbClr val="000000"/>
              </a:solidFill>
              <a:latin typeface="Calibri"/>
              <a:hlinkClick r:id="rId4" tooltip="https://industryacademiacommunity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23D5A83-F135-234F-A697-40F4A0FCB1CB}"/>
              </a:ext>
            </a:extLst>
          </p:cNvPr>
          <p:cNvSpPr txBox="1">
            <a:spLocks/>
          </p:cNvSpPr>
          <p:nvPr/>
        </p:nvSpPr>
        <p:spPr>
          <a:xfrm>
            <a:off x="9331511" y="3778053"/>
            <a:ext cx="2860490" cy="9326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Please delete </a:t>
            </a:r>
            <a:r>
              <a:rPr lang="en-IN" sz="3600">
                <a:solidFill>
                  <a:srgbClr val="FF0000"/>
                </a:solidFill>
                <a:latin typeface="Segoe UI"/>
                <a:cs typeface="Segoe UI"/>
              </a:rPr>
              <a:t>this sheet </a:t>
            </a:r>
            <a:r>
              <a:rPr lang="en-IN" sz="3600" dirty="0">
                <a:solidFill>
                  <a:srgbClr val="FF0000"/>
                </a:solidFill>
                <a:latin typeface="Segoe UI"/>
                <a:cs typeface="Segoe UI"/>
              </a:rPr>
              <a:t>before submitting</a:t>
            </a:r>
          </a:p>
        </p:txBody>
      </p:sp>
    </p:spTree>
    <p:extLst>
      <p:ext uri="{BB962C8B-B14F-4D97-AF65-F5344CB8AC3E}">
        <p14:creationId xmlns:p14="http://schemas.microsoft.com/office/powerpoint/2010/main" val="331125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6921</TotalTime>
  <Words>137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inherit</vt:lpstr>
      <vt:lpstr>Segoe UI</vt:lpstr>
      <vt:lpstr>Office Theme</vt:lpstr>
      <vt:lpstr>PowerPoint Presentation</vt:lpstr>
      <vt:lpstr>WORK BREAKDOWN STRUCTURE –  IP25 Live Project Deliverables–  ‘Software Development’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Aquib Ahmad</cp:lastModifiedBy>
  <cp:revision>242</cp:revision>
  <dcterms:created xsi:type="dcterms:W3CDTF">2023-07-15T03:43:48Z</dcterms:created>
  <dcterms:modified xsi:type="dcterms:W3CDTF">2026-02-19T10:43:29Z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